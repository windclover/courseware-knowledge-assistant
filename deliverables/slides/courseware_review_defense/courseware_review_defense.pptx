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623560" cy="6858000"/>
          </a:xfrm>
          <a:prstGeom prst="rect">
            <a:avLst/>
          </a:prstGeom>
          <a:solidFill>
            <a:srgbClr val="10273A"/>
          </a:solidFill>
          <a:ln w="12700">
            <a:solidFill>
              <a:srgbClr val="1027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822960"/>
            <a:ext cx="36576" cy="5175504"/>
          </a:xfrm>
          <a:prstGeom prst="rect">
            <a:avLst/>
          </a:prstGeom>
          <a:solidFill>
            <a:srgbClr val="8F6748"/>
          </a:solidFill>
          <a:ln w="12700">
            <a:solidFill>
              <a:srgbClr val="8F67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71323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E4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Courseware Review Desk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32688" y="1078992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课件智能知识点复习助手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50976" y="22677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67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课程大作业 / 项目答辩讲解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50976" y="2743200"/>
            <a:ext cx="3931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D7E1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上传课件后自动生成学习笔记、学习任务台与测试环境，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7E1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围绕“课件 + 笔记”开展结构化复习与多轮问答。</a:t>
            </a:r>
            <a:endParaRPr lang="en-US" sz="1240" dirty="0"/>
          </a:p>
        </p:txBody>
      </p:sp>
      <p:sp>
        <p:nvSpPr>
          <p:cNvPr id="9" name="Shape 7"/>
          <p:cNvSpPr/>
          <p:nvPr/>
        </p:nvSpPr>
        <p:spPr>
          <a:xfrm>
            <a:off x="932688" y="4114800"/>
            <a:ext cx="1225296" cy="292608"/>
          </a:xfrm>
          <a:prstGeom prst="roundRect">
            <a:avLst>
              <a:gd name="adj" fmla="val 37500"/>
            </a:avLst>
          </a:prstGeom>
          <a:solidFill>
            <a:srgbClr val="284862"/>
          </a:solidFill>
          <a:ln w="12700">
            <a:solidFill>
              <a:srgbClr val="2848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4151376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React + Vite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67712" y="4114800"/>
            <a:ext cx="1261872" cy="292608"/>
          </a:xfrm>
          <a:prstGeom prst="roundRect">
            <a:avLst>
              <a:gd name="adj" fmla="val 37500"/>
            </a:avLst>
          </a:prstGeom>
          <a:solidFill>
            <a:srgbClr val="1B3950"/>
          </a:solidFill>
          <a:ln w="12700">
            <a:solidFill>
              <a:srgbClr val="1B39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7712" y="4151376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FastAPI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39312" y="4114800"/>
            <a:ext cx="1499616" cy="292608"/>
          </a:xfrm>
          <a:prstGeom prst="roundRect">
            <a:avLst>
              <a:gd name="adj" fmla="val 37500"/>
            </a:avLst>
          </a:prstGeom>
          <a:solidFill>
            <a:srgbClr val="8F6748"/>
          </a:solidFill>
          <a:ln w="12700">
            <a:solidFill>
              <a:srgbClr val="8F67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39312" y="4151376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OpenAI API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32688" y="4517136"/>
            <a:ext cx="1097280" cy="292608"/>
          </a:xfrm>
          <a:prstGeom prst="roundRect">
            <a:avLst>
              <a:gd name="adj" fmla="val 37500"/>
            </a:avLst>
          </a:prstGeom>
          <a:solidFill>
            <a:srgbClr val="385046"/>
          </a:solidFill>
          <a:ln w="12700">
            <a:solidFill>
              <a:srgbClr val="3850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5537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SQLite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157984" y="4517136"/>
            <a:ext cx="1572768" cy="292608"/>
          </a:xfrm>
          <a:prstGeom prst="roundRect">
            <a:avLst>
              <a:gd name="adj" fmla="val 37500"/>
            </a:avLst>
          </a:prstGeom>
          <a:solidFill>
            <a:srgbClr val="23394D"/>
          </a:solidFill>
          <a:ln w="12700">
            <a:solidFill>
              <a:srgbClr val="2339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57984" y="455371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PPTX / PDF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58768" y="4517136"/>
            <a:ext cx="1097280" cy="292608"/>
          </a:xfrm>
          <a:prstGeom prst="roundRect">
            <a:avLst>
              <a:gd name="adj" fmla="val 37500"/>
            </a:avLst>
          </a:prstGeom>
          <a:solidFill>
            <a:srgbClr val="6E4D37"/>
          </a:solidFill>
          <a:ln w="12700">
            <a:solidFill>
              <a:srgbClr val="6E4D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58768" y="45537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答辩版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53328" y="658368"/>
            <a:ext cx="5431536" cy="5504688"/>
          </a:xfrm>
          <a:prstGeom prst="roundRect">
            <a:avLst>
              <a:gd name="adj" fmla="val 2357"/>
            </a:avLst>
          </a:prstGeom>
          <a:solidFill>
            <a:srgbClr val="FFFFFF"/>
          </a:solidFill>
          <a:ln w="12700">
            <a:solidFill>
              <a:srgbClr val="D1D9E3"/>
            </a:solidFill>
            <a:prstDash val="solid"/>
          </a:ln>
          <a:effectLst>
            <a:outerShdw sx="100000" sy="100000" kx="0" ky="0" algn="bl" rotWithShape="0" blurRad="38100" dist="12700" dir="2700000">
              <a:srgbClr val="8396A9">
                <a:alpha val="16000"/>
              </a:srgbClr>
            </a:outerShdw>
          </a:effectLst>
        </p:spPr>
      </p:sp>
      <p:pic>
        <p:nvPicPr>
          <p:cNvPr id="22" name="Image 0" descr="/Users/wanghaohua/Desktop/毕业实习/deliverables/slides/courseware_review_defense/assets/current_ui_rewrite_loa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733423"/>
            <a:ext cx="4956048" cy="337286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522208" y="61996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4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课程答辩展示稿</a:t>
            </a:r>
            <a:endParaRPr lang="en-US" sz="9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402336"/>
            <a:ext cx="10936224" cy="18288"/>
          </a:xfrm>
          <a:prstGeom prst="rect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310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9E2EC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02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63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67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/ 背景问题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5120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13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项目背景与痛点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58368" y="645566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课件智能知识点复习助手 / Courseware Review Desk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49808" y="1280160"/>
            <a:ext cx="2606040" cy="1426464"/>
          </a:xfrm>
          <a:prstGeom prst="roundRect">
            <a:avLst>
              <a:gd name="adj" fmla="val 7692"/>
            </a:avLst>
          </a:prstGeom>
          <a:solidFill>
            <a:srgbClr val="EAF1F8"/>
          </a:solidFill>
          <a:ln w="12700">
            <a:solidFill>
              <a:srgbClr val="D1D9E3"/>
            </a:solidFill>
            <a:prstDash val="solid"/>
          </a:ln>
          <a:effectLst>
            <a:outerShdw sx="100000" sy="100000" kx="0" ky="0" algn="bl" rotWithShape="0" blurRad="25400" dist="12700" dir="2700000">
              <a:srgbClr val="8EA0B2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9264" y="1463040"/>
            <a:ext cx="216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13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课件内容长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05840" y="1901952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3856" y="1847088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PPT/PDF 页面多，难以快速抓住重点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05840" y="2212848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3856" y="2157984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数学类课件常夹杂公式与例题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39312" y="1280160"/>
            <a:ext cx="2606040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1D9E3"/>
            </a:solidFill>
            <a:prstDash val="solid"/>
          </a:ln>
          <a:effectLst>
            <a:outerShdw sx="100000" sy="100000" kx="0" ky="0" algn="bl" rotWithShape="0" blurRad="25400" dist="12700" dir="2700000">
              <a:srgbClr val="8EA0B2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58768" y="1463040"/>
            <a:ext cx="216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13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复习重点散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895344" y="1901952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0" y="1847088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章节、公式、例题不在同一复习视图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95344" y="2212848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0" y="2157984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学生需要手动整理笔记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28816" y="1280160"/>
            <a:ext cx="2606040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1D9E3"/>
            </a:solidFill>
            <a:prstDash val="solid"/>
          </a:ln>
          <a:effectLst>
            <a:outerShdw sx="100000" sy="100000" kx="0" ky="0" algn="bl" rotWithShape="0" blurRad="25400" dist="12700" dir="2700000">
              <a:srgbClr val="8EA0B2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48272" y="1463040"/>
            <a:ext cx="216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13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互动性不足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784848" y="1901952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12864" y="1847088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传统课件缺少即时追问与解释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784848" y="2212848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12864" y="2157984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复习过程中难承接上下文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418320" y="1280160"/>
            <a:ext cx="2011680" cy="1426464"/>
          </a:xfrm>
          <a:prstGeom prst="roundRect">
            <a:avLst>
              <a:gd name="adj" fmla="val 7692"/>
            </a:avLst>
          </a:prstGeom>
          <a:solidFill>
            <a:srgbClr val="F6EDE6"/>
          </a:solidFill>
          <a:ln w="12700">
            <a:solidFill>
              <a:srgbClr val="D1D9E3"/>
            </a:solidFill>
            <a:prstDash val="solid"/>
          </a:ln>
          <a:effectLst>
            <a:outerShdw sx="100000" sy="100000" kx="0" ky="0" algn="bl" rotWithShape="0" blurRad="25400" dist="12700" dir="2700000">
              <a:srgbClr val="8EA0B2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637776" y="146304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13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练习成本高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674352" y="1901952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02368" y="1847088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题目、答案、解析需要老师单独准备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49808" y="3218688"/>
            <a:ext cx="10680192" cy="2322576"/>
          </a:xfrm>
          <a:prstGeom prst="roundRect">
            <a:avLst>
              <a:gd name="adj" fmla="val 4724"/>
            </a:avLst>
          </a:prstGeom>
          <a:solidFill>
            <a:srgbClr val="FFFFFF"/>
          </a:solidFill>
          <a:ln w="12700">
            <a:solidFill>
              <a:srgbClr val="D1D9E3"/>
            </a:solidFill>
            <a:prstDash val="solid"/>
          </a:ln>
          <a:effectLst>
            <a:outerShdw sx="100000" sy="100000" kx="0" ky="0" algn="bl" rotWithShape="0" blurRad="25400" dist="12700" dir="2700000">
              <a:srgbClr val="8EA0B2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87552" y="34564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435E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项目目标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87552" y="382219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1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把传统 PPT / PDF 课件转化成一个可复习、可追问、可测试、可导出的学习工作台。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00800" y="3547872"/>
            <a:ext cx="1417320" cy="1353312"/>
          </a:xfrm>
          <a:prstGeom prst="roundRect">
            <a:avLst>
              <a:gd name="adj" fmla="val 8108"/>
            </a:avLst>
          </a:prstGeom>
          <a:solidFill>
            <a:srgbClr val="EAF1F8"/>
          </a:solidFill>
          <a:ln w="12700">
            <a:solidFill>
              <a:srgbClr val="D1D9E3"/>
            </a:solidFill>
            <a:prstDash val="solid"/>
          </a:ln>
          <a:effectLst>
            <a:outerShdw sx="100000" sy="100000" kx="0" ky="0" algn="bl" rotWithShape="0" blurRad="25400" dist="12700" dir="2700000">
              <a:srgbClr val="8EA0B2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620256" y="3730752"/>
            <a:ext cx="978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13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可复习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656832" y="4169664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84848" y="4114800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章节讲解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656832" y="4480560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84848" y="4425696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知识点整理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010144" y="3547872"/>
            <a:ext cx="1417320" cy="1353312"/>
          </a:xfrm>
          <a:prstGeom prst="roundRect">
            <a:avLst>
              <a:gd name="adj" fmla="val 8108"/>
            </a:avLst>
          </a:prstGeom>
          <a:solidFill>
            <a:srgbClr val="E8F2ED"/>
          </a:solidFill>
          <a:ln w="12700">
            <a:solidFill>
              <a:srgbClr val="D1D9E3"/>
            </a:solidFill>
            <a:prstDash val="solid"/>
          </a:ln>
          <a:effectLst>
            <a:outerShdw sx="100000" sy="100000" kx="0" ky="0" algn="bl" rotWithShape="0" blurRad="25400" dist="12700" dir="2700000">
              <a:srgbClr val="8EA0B2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229600" y="3730752"/>
            <a:ext cx="978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13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可追问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266176" y="4169664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94192" y="4114800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统一对话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266176" y="4480560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94192" y="4425696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上下文承接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9619488" y="3547872"/>
            <a:ext cx="1417320" cy="1353312"/>
          </a:xfrm>
          <a:prstGeom prst="roundRect">
            <a:avLst>
              <a:gd name="adj" fmla="val 8108"/>
            </a:avLst>
          </a:prstGeom>
          <a:solidFill>
            <a:srgbClr val="F6EDE6"/>
          </a:solidFill>
          <a:ln w="12700">
            <a:solidFill>
              <a:srgbClr val="D1D9E3"/>
            </a:solidFill>
            <a:prstDash val="solid"/>
          </a:ln>
          <a:effectLst>
            <a:outerShdw sx="100000" sy="100000" kx="0" ky="0" algn="bl" rotWithShape="0" blurRad="25400" dist="12700" dir="2700000">
              <a:srgbClr val="8EA0B2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9838944" y="3730752"/>
            <a:ext cx="978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13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可测试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9875520" y="4169664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003536" y="4114800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选择/填空/计算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9875520" y="4480560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003536" y="4425696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交卷后解析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931152" y="5102352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最终还能统一导出复习记录、任务完成情况与测试结果。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402336"/>
            <a:ext cx="10936224" cy="18288"/>
          </a:xfrm>
          <a:prstGeom prst="rect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310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9E2EC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03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63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67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产品定位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5120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13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项目目标与核心价值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58368" y="645566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课件智能知识点复习助手 / Courseware Review Desk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41248" y="1901952"/>
            <a:ext cx="14173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66544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1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 PPT / PDF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395728" y="20299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67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24912" y="1901952"/>
            <a:ext cx="1444752" cy="713232"/>
          </a:xfrm>
          <a:prstGeom prst="roundRect">
            <a:avLst>
              <a:gd name="adj" fmla="val 15385"/>
            </a:avLst>
          </a:prstGeom>
          <a:solidFill>
            <a:srgbClr val="EAF1F8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98064" y="2066544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1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课件解析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15968" y="20299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67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45152" y="1901952"/>
            <a:ext cx="1444752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18304" y="2066544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1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学习笔记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36208" y="20299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67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565392" y="1901952"/>
            <a:ext cx="1554480" cy="713232"/>
          </a:xfrm>
          <a:prstGeom prst="roundRect">
            <a:avLst>
              <a:gd name="adj" fmla="val 15385"/>
            </a:avLst>
          </a:prstGeom>
          <a:solidFill>
            <a:srgbClr val="E8F2ED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38544" y="2066544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1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Learning Board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66176" y="20299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67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595360" y="1901952"/>
            <a:ext cx="14173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68512" y="2066544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1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测试环境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149840" y="20299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67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442448" y="1901952"/>
            <a:ext cx="1005840" cy="713232"/>
          </a:xfrm>
          <a:prstGeom prst="roundRect">
            <a:avLst>
              <a:gd name="adj" fmla="val 15385"/>
            </a:avLst>
          </a:prstGeom>
          <a:solidFill>
            <a:srgbClr val="F6EDE6"/>
          </a:solidFill>
          <a:ln w="12700">
            <a:solidFill>
              <a:srgbClr val="8F67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0" y="2066544"/>
            <a:ext cx="859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1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导出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32688" y="3657600"/>
            <a:ext cx="3401568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1D9E3"/>
            </a:solidFill>
            <a:prstDash val="solid"/>
          </a:ln>
          <a:effectLst>
            <a:outerShdw sx="100000" sy="100000" kx="0" ky="0" algn="bl" rotWithShape="0" blurRad="25400" dist="12700" dir="2700000">
              <a:srgbClr val="8EA0B2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152144" y="3840480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13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输入端价值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188720" y="4279392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16736" y="4224528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兼容课件常见格式，降低老师与学生的使用门槛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188720" y="4663440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16736" y="4608576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不要求额外整理素材即可直接复习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53712" y="3657600"/>
            <a:ext cx="3017520" cy="1783080"/>
          </a:xfrm>
          <a:prstGeom prst="roundRect">
            <a:avLst>
              <a:gd name="adj" fmla="val 6154"/>
            </a:avLst>
          </a:prstGeom>
          <a:solidFill>
            <a:srgbClr val="EAF1F8"/>
          </a:solidFill>
          <a:ln w="12700">
            <a:solidFill>
              <a:srgbClr val="D1D9E3"/>
            </a:solidFill>
            <a:prstDash val="solid"/>
          </a:ln>
          <a:effectLst>
            <a:outerShdw sx="100000" sy="100000" kx="0" ky="0" algn="bl" rotWithShape="0" blurRad="25400" dist="12700" dir="2700000">
              <a:srgbClr val="8EA0B2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73168" y="384048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13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过程端价值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809744" y="4279392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4224528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把“看课件”升级为“理解 + 追问 + 练习”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09744" y="4663440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4608576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让公式、章节、例题进入同一工作流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827264" y="3657600"/>
            <a:ext cx="27432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1D9E3"/>
            </a:solidFill>
            <a:prstDash val="solid"/>
          </a:ln>
          <a:effectLst>
            <a:outerShdw sx="100000" sy="100000" kx="0" ky="0" algn="bl" rotWithShape="0" blurRad="25400" dist="12700" dir="2700000">
              <a:srgbClr val="8EA0B2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046720" y="3840480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13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结果端价值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083296" y="4279392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11312" y="4224528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形成结构化复习路径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083296" y="4663440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11312" y="4608576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适合课程复习、答辩准备和课后自测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402336"/>
            <a:ext cx="10936224" cy="18288"/>
          </a:xfrm>
          <a:prstGeom prst="rect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310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9E2EC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04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63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67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/ 功能版图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5120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13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整体功能总览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58368" y="645566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课件智能知识点复习助手 / Courseware Review Desk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 w="12700">
            <a:solidFill>
              <a:srgbClr val="D1D9E3"/>
            </a:solidFill>
            <a:prstDash val="solid"/>
          </a:ln>
          <a:effectLst>
            <a:outerShdw sx="100000" sy="100000" kx="0" ky="0" algn="bl" rotWithShape="0" blurRad="25400" dist="12700" dir="2700000">
              <a:srgbClr val="8EA0B2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42416" y="1600200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13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课件解析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78992" y="2039112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1984248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提取 PPT / PDF 文本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78992" y="2386584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7008" y="2331720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按章节聚合与组织内容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78992" y="2734056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07008" y="2679192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数学课件支持公式候选抽取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11880" y="141732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1D9E3"/>
            </a:solidFill>
            <a:prstDash val="solid"/>
          </a:ln>
          <a:effectLst>
            <a:outerShdw sx="100000" sy="100000" kx="0" ky="0" algn="bl" rotWithShape="0" blurRad="25400" dist="12700" dir="2700000">
              <a:srgbClr val="8EA0B2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31336" y="1600200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13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笔记生成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867912" y="2039112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95928" y="1984248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章节概述与详细讲解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867912" y="2386584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95928" y="2331720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关键知识点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867912" y="2734056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95928" y="2679192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核心公式、例题与步骤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0" y="141732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1D9E3"/>
            </a:solidFill>
            <a:prstDash val="solid"/>
          </a:ln>
          <a:effectLst>
            <a:outerShdw sx="100000" sy="100000" kx="0" ky="0" algn="bl" rotWithShape="0" blurRad="25400" dist="12700" dir="2700000">
              <a:srgbClr val="8EA0B2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620256" y="1600200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13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对话问答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656832" y="2039112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84848" y="1984248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围绕课件 + 笔记统一提问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656832" y="2386584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84848" y="2331720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支持多轮上下文承接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656832" y="2734056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84848" y="2679192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公式解释与练习题追问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189720" y="1417320"/>
            <a:ext cx="2148840" cy="1828800"/>
          </a:xfrm>
          <a:prstGeom prst="roundRect">
            <a:avLst>
              <a:gd name="adj" fmla="val 6000"/>
            </a:avLst>
          </a:prstGeom>
          <a:solidFill>
            <a:srgbClr val="F6EDE6"/>
          </a:solidFill>
          <a:ln w="12700">
            <a:solidFill>
              <a:srgbClr val="D1D9E3"/>
            </a:solidFill>
            <a:prstDash val="solid"/>
          </a:ln>
          <a:effectLst>
            <a:outerShdw sx="100000" sy="100000" kx="0" ky="0" algn="bl" rotWithShape="0" blurRad="25400" dist="12700" dir="2700000">
              <a:srgbClr val="8EA0B2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409176" y="1600200"/>
            <a:ext cx="1709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13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测试与导出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445752" y="2039112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73768" y="1984248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选择题 / 填空题 / 计算题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445752" y="2386584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573768" y="2331720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交卷后显示答案与解析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445752" y="2734056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573768" y="2679192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导出复习记录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22960" y="3749040"/>
            <a:ext cx="10515600" cy="1554480"/>
          </a:xfrm>
          <a:prstGeom prst="roundRect">
            <a:avLst>
              <a:gd name="adj" fmla="val 7059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51560" y="4059936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34A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一句话概括：上传一份课件，系统自动完成“解析 - 笔记 - 任务 - 对话 - 测试 - 导出”的完整学习闭环。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402336"/>
            <a:ext cx="10936224" cy="18288"/>
          </a:xfrm>
          <a:prstGeom prst="rect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310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9E2EC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05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63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67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/ 主流程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5120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13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系统工作流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58368" y="645566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课件智能知识点复习助手 / Courseware Review Desk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22960" y="2011680"/>
            <a:ext cx="128016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176272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1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上传课件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76272" y="21396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67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395728" y="2011680"/>
            <a:ext cx="1417320" cy="713232"/>
          </a:xfrm>
          <a:prstGeom prst="roundRect">
            <a:avLst>
              <a:gd name="adj" fmla="val 15385"/>
            </a:avLst>
          </a:prstGeom>
          <a:solidFill>
            <a:srgbClr val="EAF1F8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2176272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1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文本解析与去噪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86200" y="21396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67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078224" y="2011680"/>
            <a:ext cx="11887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51376" y="2176272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1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章节切分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40096" y="21396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67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559552" y="2011680"/>
            <a:ext cx="1481328" cy="713232"/>
          </a:xfrm>
          <a:prstGeom prst="roundRect">
            <a:avLst>
              <a:gd name="adj" fmla="val 15385"/>
            </a:avLst>
          </a:prstGeom>
          <a:solidFill>
            <a:srgbClr val="EAF1F8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32704" y="2176272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1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学习笔记生成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114032" y="21396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67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296912" y="2011680"/>
            <a:ext cx="14173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70064" y="2176272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1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Learning Board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787384" y="21396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67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070848" y="2011680"/>
            <a:ext cx="1234440" cy="713232"/>
          </a:xfrm>
          <a:prstGeom prst="roundRect">
            <a:avLst>
              <a:gd name="adj" fmla="val 15385"/>
            </a:avLst>
          </a:prstGeom>
          <a:solidFill>
            <a:srgbClr val="EAF1F8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0" y="2176272"/>
            <a:ext cx="1088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1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测试环境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515600" y="2011680"/>
            <a:ext cx="1060704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8F67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88752" y="217627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1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导出复习记录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14400" y="3794760"/>
            <a:ext cx="32918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1D9E3"/>
            </a:solidFill>
            <a:prstDash val="solid"/>
          </a:ln>
          <a:effectLst>
            <a:outerShdw sx="100000" sy="100000" kx="0" ky="0" algn="bl" rotWithShape="0" blurRad="25400" dist="12700" dir="2700000">
              <a:srgbClr val="8EA0B2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133856" y="3977640"/>
            <a:ext cx="285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13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用户侧体验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170432" y="4416552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98448" y="4361688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从上传开始进入统一工作台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170432" y="4800600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98448" y="4745736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不需要在多个页面之间来回切换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443984" y="3794760"/>
            <a:ext cx="3337560" cy="1554480"/>
          </a:xfrm>
          <a:prstGeom prst="roundRect">
            <a:avLst>
              <a:gd name="adj" fmla="val 7059"/>
            </a:avLst>
          </a:prstGeom>
          <a:solidFill>
            <a:srgbClr val="EAF1F8"/>
          </a:solidFill>
          <a:ln w="12700">
            <a:solidFill>
              <a:srgbClr val="D1D9E3"/>
            </a:solidFill>
            <a:prstDash val="solid"/>
          </a:ln>
          <a:effectLst>
            <a:outerShdw sx="100000" sy="100000" kx="0" ky="0" algn="bl" rotWithShape="0" blurRad="25400" dist="12700" dir="2700000">
              <a:srgbClr val="8EA0B2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663440" y="3977640"/>
            <a:ext cx="2898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13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系统侧处理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700016" y="4416552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28032" y="4361688"/>
            <a:ext cx="2734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解析层负责提取文本与清洗噪声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00016" y="4800600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4745736"/>
            <a:ext cx="2734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生成层负责笔记、任务与测试题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028432" y="3794760"/>
            <a:ext cx="29260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1D9E3"/>
            </a:solidFill>
            <a:prstDash val="solid"/>
          </a:ln>
          <a:effectLst>
            <a:outerShdw sx="100000" sy="100000" kx="0" ky="0" algn="bl" rotWithShape="0" blurRad="25400" dist="12700" dir="2700000">
              <a:srgbClr val="8EA0B2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247888" y="3977640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13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结果侧输出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284464" y="4416552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12480" y="4361688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可追问、可测试、可导出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284464" y="4800600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12480" y="4745736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形成课程答辩可展示的学习闭环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402336"/>
            <a:ext cx="10936224" cy="18288"/>
          </a:xfrm>
          <a:prstGeom prst="rect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310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9E2EC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06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63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67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/ 前端界面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5120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13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界面展示：主工作台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58368" y="645566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课件智能知识点复习助手 / Courseware Review Desk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49808" y="1170432"/>
            <a:ext cx="10716768" cy="3968496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1D9E3"/>
            </a:solidFill>
            <a:prstDash val="solid"/>
          </a:ln>
          <a:effectLst>
            <a:outerShdw sx="100000" sy="100000" kx="0" ky="0" algn="bl" rotWithShape="0" blurRad="38100" dist="12700" dir="2700000">
              <a:srgbClr val="8EA0B2">
                <a:alpha val="18000"/>
              </a:srgbClr>
            </a:outerShdw>
          </a:effectLst>
        </p:spPr>
      </p:sp>
      <p:pic>
        <p:nvPicPr>
          <p:cNvPr id="9" name="Image 0" descr="/Users/wanghaohua/Desktop/毕业实习/deliverables/slides/courseware_review_defense/assets/current_ui_rewrite_loa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4412" y="1298448"/>
            <a:ext cx="5347560" cy="363931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96112" y="5248656"/>
            <a:ext cx="2944368" cy="969264"/>
          </a:xfrm>
          <a:prstGeom prst="roundRect">
            <a:avLst>
              <a:gd name="adj" fmla="val 11321"/>
            </a:avLst>
          </a:prstGeom>
          <a:solidFill>
            <a:srgbClr val="EAF1F8"/>
          </a:solidFill>
          <a:ln w="12700">
            <a:solidFill>
              <a:srgbClr val="D1D9E3"/>
            </a:solidFill>
            <a:prstDash val="solid"/>
          </a:ln>
          <a:effectLst>
            <a:outerShdw sx="100000" sy="100000" kx="0" ky="0" algn="bl" rotWithShape="0" blurRad="25400" dist="12700" dir="2700000">
              <a:srgbClr val="8EA0B2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115568" y="543153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13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左侧资料区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1152144" y="5870448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80160" y="5815584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上传入口</a:t>
            </a:r>
            <a:endParaRPr lang="en-US" sz="870" dirty="0"/>
          </a:p>
        </p:txBody>
      </p:sp>
      <p:sp>
        <p:nvSpPr>
          <p:cNvPr id="14" name="Shape 11"/>
          <p:cNvSpPr/>
          <p:nvPr/>
        </p:nvSpPr>
        <p:spPr>
          <a:xfrm>
            <a:off x="1152144" y="6053328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80160" y="5998464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课件列表与笔记摘要</a:t>
            </a:r>
            <a:endParaRPr lang="en-US" sz="870" dirty="0"/>
          </a:p>
        </p:txBody>
      </p:sp>
      <p:sp>
        <p:nvSpPr>
          <p:cNvPr id="16" name="Shape 13"/>
          <p:cNvSpPr/>
          <p:nvPr/>
        </p:nvSpPr>
        <p:spPr>
          <a:xfrm>
            <a:off x="4535424" y="5248656"/>
            <a:ext cx="3072384" cy="969264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2700">
            <a:solidFill>
              <a:srgbClr val="D1D9E3"/>
            </a:solidFill>
            <a:prstDash val="solid"/>
          </a:ln>
          <a:effectLst>
            <a:outerShdw sx="100000" sy="100000" kx="0" ky="0" algn="bl" rotWithShape="0" blurRad="25400" dist="12700" dir="2700000">
              <a:srgbClr val="8EA0B2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754880" y="543153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13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中间研究对话区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791456" y="5870448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19472" y="581558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围绕课件 + 笔记提问</a:t>
            </a:r>
            <a:endParaRPr lang="en-US" sz="870" dirty="0"/>
          </a:p>
        </p:txBody>
      </p:sp>
      <p:sp>
        <p:nvSpPr>
          <p:cNvPr id="20" name="Shape 17"/>
          <p:cNvSpPr/>
          <p:nvPr/>
        </p:nvSpPr>
        <p:spPr>
          <a:xfrm>
            <a:off x="4791456" y="6053328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19472" y="599846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多轮承接是主舞台</a:t>
            </a:r>
            <a:endParaRPr lang="en-US" sz="870" dirty="0"/>
          </a:p>
        </p:txBody>
      </p:sp>
      <p:sp>
        <p:nvSpPr>
          <p:cNvPr id="22" name="Shape 19"/>
          <p:cNvSpPr/>
          <p:nvPr/>
        </p:nvSpPr>
        <p:spPr>
          <a:xfrm>
            <a:off x="8211312" y="5248656"/>
            <a:ext cx="2852928" cy="969264"/>
          </a:xfrm>
          <a:prstGeom prst="roundRect">
            <a:avLst>
              <a:gd name="adj" fmla="val 11321"/>
            </a:avLst>
          </a:prstGeom>
          <a:solidFill>
            <a:srgbClr val="F6EDE6"/>
          </a:solidFill>
          <a:ln w="12700">
            <a:solidFill>
              <a:srgbClr val="D1D9E3"/>
            </a:solidFill>
            <a:prstDash val="solid"/>
          </a:ln>
          <a:effectLst>
            <a:outerShdw sx="100000" sy="100000" kx="0" ky="0" algn="bl" rotWithShape="0" blurRad="25400" dist="12700" dir="2700000">
              <a:srgbClr val="8EA0B2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8430768" y="5431536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6748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右侧任务台 / 测试区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8467344" y="5870448"/>
            <a:ext cx="73152" cy="73152"/>
          </a:xfrm>
          <a:prstGeom prst="ellipse">
            <a:avLst/>
          </a:prstGeom>
          <a:solidFill>
            <a:srgbClr val="8F6748"/>
          </a:solidFill>
          <a:ln w="12700">
            <a:solidFill>
              <a:srgbClr val="8F674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595360" y="5815584"/>
            <a:ext cx="2249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完成任务后进入测试环境</a:t>
            </a:r>
            <a:endParaRPr lang="en-US" sz="8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402336"/>
            <a:ext cx="10936224" cy="18288"/>
          </a:xfrm>
          <a:prstGeom prst="rect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310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9E2EC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07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63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67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/ 解析链路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5120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13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核心功能一：课件解析与章节组织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58368" y="645566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课件智能知识点复习助手 / Courseware Review Desk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41248" y="1325880"/>
            <a:ext cx="3950208" cy="448056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1D9E3"/>
            </a:solidFill>
            <a:prstDash val="solid"/>
          </a:ln>
          <a:effectLst>
            <a:outerShdw sx="100000" sy="100000" kx="0" ky="0" algn="bl" rotWithShape="0" blurRad="25400" dist="12700" dir="2700000">
              <a:srgbClr val="8EA0B2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60704" y="1508760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13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解析层做什么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1947672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1892808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支持 .pptx 与文本型 .pdf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1097280" y="2386584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331720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PDF 先提取行文本，再识别噪声页眉/页脚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1097280" y="2825496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25296" y="2770632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根据页面标题做章节切分，而不是简单按页堆叠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1097280" y="3264408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25296" y="3209544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数学类课件会同步抽取公式候选与例题候选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5230368" y="1627632"/>
            <a:ext cx="13258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1792224"/>
            <a:ext cx="1179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1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 页 PDF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656832" y="17647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67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967728" y="1627632"/>
            <a:ext cx="1481328" cy="713232"/>
          </a:xfrm>
          <a:prstGeom prst="roundRect">
            <a:avLst>
              <a:gd name="adj" fmla="val 15385"/>
            </a:avLst>
          </a:prstGeom>
          <a:solidFill>
            <a:srgbClr val="EAF1F8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1792224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1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目录去噪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577072" y="17647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67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887968" y="1627632"/>
            <a:ext cx="16002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0" y="1792224"/>
            <a:ext cx="145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1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标题识别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634472" y="17647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67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899648" y="1627632"/>
            <a:ext cx="768096" cy="713232"/>
          </a:xfrm>
          <a:prstGeom prst="roundRect">
            <a:avLst>
              <a:gd name="adj" fmla="val 15385"/>
            </a:avLst>
          </a:prstGeom>
          <a:solidFill>
            <a:srgbClr val="F6EDE6"/>
          </a:solidFill>
          <a:ln w="12700">
            <a:solidFill>
              <a:srgbClr val="8F67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0" y="1792224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1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 段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285232" y="2816352"/>
            <a:ext cx="18288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1D9E3"/>
            </a:solidFill>
            <a:prstDash val="solid"/>
          </a:ln>
          <a:effectLst>
            <a:outerShdw sx="100000" sy="100000" kx="0" ky="0" algn="bl" rotWithShape="0" blurRad="25400" dist="12700" dir="2700000">
              <a:srgbClr val="8EA0B2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68112" y="2980944"/>
            <a:ext cx="438912" cy="27432"/>
          </a:xfrm>
          <a:prstGeom prst="rect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0" y="3072384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真实案例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5486400" y="3255264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435E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罚函数法.pdf</a:t>
            </a:r>
            <a:endParaRPr lang="en-US" sz="2700" dirty="0"/>
          </a:p>
        </p:txBody>
      </p:sp>
      <p:sp>
        <p:nvSpPr>
          <p:cNvPr id="33" name="Text 31"/>
          <p:cNvSpPr/>
          <p:nvPr/>
        </p:nvSpPr>
        <p:spPr>
          <a:xfrm>
            <a:off x="5486400" y="3749040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 页数学课件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296912" y="2816352"/>
            <a:ext cx="1463040" cy="1325880"/>
          </a:xfrm>
          <a:prstGeom prst="roundRect">
            <a:avLst>
              <a:gd name="adj" fmla="val 8276"/>
            </a:avLst>
          </a:prstGeom>
          <a:solidFill>
            <a:srgbClr val="F7ECE8"/>
          </a:solidFill>
          <a:ln w="12700">
            <a:solidFill>
              <a:srgbClr val="D1D9E3"/>
            </a:solidFill>
            <a:prstDash val="solid"/>
          </a:ln>
          <a:effectLst>
            <a:outerShdw sx="100000" sy="100000" kx="0" ky="0" algn="bl" rotWithShape="0" blurRad="25400" dist="12700" dir="2700000">
              <a:srgbClr val="8EA0B2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479792" y="2980944"/>
            <a:ext cx="438912" cy="27432"/>
          </a:xfrm>
          <a:prstGeom prst="rect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8080" y="3072384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修复前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7498080" y="3255264"/>
            <a:ext cx="1060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435E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1</a:t>
            </a:r>
            <a:endParaRPr lang="en-US" sz="2700" dirty="0"/>
          </a:p>
        </p:txBody>
      </p:sp>
      <p:sp>
        <p:nvSpPr>
          <p:cNvPr id="38" name="Text 36"/>
          <p:cNvSpPr/>
          <p:nvPr/>
        </p:nvSpPr>
        <p:spPr>
          <a:xfrm>
            <a:off x="7498080" y="3749040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整个 PDF 只聚成 1 section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961120" y="2816352"/>
            <a:ext cx="1463040" cy="1325880"/>
          </a:xfrm>
          <a:prstGeom prst="roundRect">
            <a:avLst>
              <a:gd name="adj" fmla="val 8276"/>
            </a:avLst>
          </a:prstGeom>
          <a:solidFill>
            <a:srgbClr val="E8F2ED"/>
          </a:solidFill>
          <a:ln w="12700">
            <a:solidFill>
              <a:srgbClr val="D1D9E3"/>
            </a:solidFill>
            <a:prstDash val="solid"/>
          </a:ln>
          <a:effectLst>
            <a:outerShdw sx="100000" sy="100000" kx="0" ky="0" algn="bl" rotWithShape="0" blurRad="25400" dist="12700" dir="2700000">
              <a:srgbClr val="8EA0B2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144000" y="2980944"/>
            <a:ext cx="438912" cy="27432"/>
          </a:xfrm>
          <a:prstGeom prst="rect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62288" y="3072384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修复后</a:t>
            </a:r>
            <a:endParaRPr lang="en-US" sz="920" dirty="0"/>
          </a:p>
        </p:txBody>
      </p:sp>
      <p:sp>
        <p:nvSpPr>
          <p:cNvPr id="42" name="Text 40"/>
          <p:cNvSpPr/>
          <p:nvPr/>
        </p:nvSpPr>
        <p:spPr>
          <a:xfrm>
            <a:off x="9162288" y="3255264"/>
            <a:ext cx="1060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435E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11</a:t>
            </a:r>
            <a:endParaRPr lang="en-US" sz="2700" dirty="0"/>
          </a:p>
        </p:txBody>
      </p:sp>
      <p:sp>
        <p:nvSpPr>
          <p:cNvPr id="43" name="Text 41"/>
          <p:cNvSpPr/>
          <p:nvPr/>
        </p:nvSpPr>
        <p:spPr>
          <a:xfrm>
            <a:off x="9162288" y="3749040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能拆出多个主要章节</a:t>
            </a:r>
            <a:endParaRPr lang="en-US" sz="950" dirty="0"/>
          </a:p>
        </p:txBody>
      </p:sp>
      <p:pic>
        <p:nvPicPr>
          <p:cNvPr id="44" name="Image 0" descr="/Users/wanghaohua/Desktop/毕业实习/deliverables/slides/courseware_review_defense/assets/r0Gq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5006" y="4480560"/>
            <a:ext cx="2015412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402336"/>
            <a:ext cx="10936224" cy="18288"/>
          </a:xfrm>
          <a:prstGeom prst="rect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310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9E2EC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08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63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67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/ 笔记生成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5120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13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核心功能二：智能学习笔记生成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58368" y="645566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课件智能知识点复习助手 / Courseware Review Desk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68680" y="1298448"/>
            <a:ext cx="3383280" cy="4754880"/>
          </a:xfrm>
          <a:prstGeom prst="roundRect">
            <a:avLst>
              <a:gd name="adj" fmla="val 3243"/>
            </a:avLst>
          </a:prstGeom>
          <a:solidFill>
            <a:srgbClr val="EAF1F8"/>
          </a:solidFill>
          <a:ln w="12700">
            <a:solidFill>
              <a:srgbClr val="D1D9E3"/>
            </a:solidFill>
            <a:prstDash val="solid"/>
          </a:ln>
          <a:effectLst>
            <a:outerShdw sx="100000" sy="100000" kx="0" ky="0" algn="bl" rotWithShape="0" blurRad="25400" dist="12700" dir="2700000">
              <a:srgbClr val="8EA0B2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88136" y="1481328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13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一份真正可复习的笔记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24712" y="1920240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2728" y="1865376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章节概述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1124712" y="2423160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52728" y="2368296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详细讲解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1124712" y="2926080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52728" y="2871216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关键知识点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1124712" y="3429000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52728" y="3374136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核心公式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1124712" y="3931920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52728" y="3877056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例题与计算步骤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1124712" y="4434840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52728" y="4379976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来源页码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4572000" y="1335024"/>
            <a:ext cx="627278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1D9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1572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435E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核心公式示例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28032" y="193852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P_E(x, σ) = f(x) + (1/(2σ)) * Σ c_i(x)^2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28032" y="235915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解释：把原目标函数与惩罚项组合，惩罚违反约束的解。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0" y="3493008"/>
            <a:ext cx="6272784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1D9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37307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435E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例题与计算步骤示例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828032" y="407822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21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题目：min x1^2 + x2^2, s.t. x1 - x2 + 1 = 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28032" y="43891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写出罚函数</a:t>
            </a:r>
            <a:endParaRPr lang="en-US" sz="1030" dirty="0"/>
          </a:p>
        </p:txBody>
      </p:sp>
      <p:sp>
        <p:nvSpPr>
          <p:cNvPr id="30" name="Text 28"/>
          <p:cNvSpPr/>
          <p:nvPr/>
        </p:nvSpPr>
        <p:spPr>
          <a:xfrm>
            <a:off x="4828032" y="47000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求极值点表达式</a:t>
            </a:r>
            <a:endParaRPr lang="en-US" sz="1030" dirty="0"/>
          </a:p>
        </p:txBody>
      </p:sp>
      <p:sp>
        <p:nvSpPr>
          <p:cNvPr id="31" name="Text 29"/>
          <p:cNvSpPr/>
          <p:nvPr/>
        </p:nvSpPr>
        <p:spPr>
          <a:xfrm>
            <a:off x="4828032" y="50109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说明 σ 增大时的逼近趋势</a:t>
            </a:r>
            <a:endParaRPr lang="en-US" sz="10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402336"/>
            <a:ext cx="10936224" cy="18288"/>
          </a:xfrm>
          <a:prstGeom prst="rect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310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9E2EC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09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63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67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 / 问答能力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5120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13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核心功能三：研究对话区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58368" y="645566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课件智能知识点复习助手 / Courseware Review Desk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41248" y="1325880"/>
            <a:ext cx="3749040" cy="4462272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1D9E3"/>
            </a:solidFill>
            <a:prstDash val="solid"/>
          </a:ln>
          <a:effectLst>
            <a:outerShdw sx="100000" sy="100000" kx="0" ky="0" algn="bl" rotWithShape="0" blurRad="25400" dist="12700" dir="2700000">
              <a:srgbClr val="8EA0B2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60704" y="1508760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13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对话不只是“复述课件”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1947672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1892808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问题类型识别：summary / concepts / formula / exercise / follow_up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1097280" y="2404872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350008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全局与局部检索分流：整份课件问题不再被单页带偏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1097280" y="2862072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25296" y="2807208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低信息输入澄清：如 11、123 不再胡答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1097280" y="3319272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25296" y="3264408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练习题与追问承接：上一轮题目可以继续求解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4901184" y="1371600"/>
            <a:ext cx="5577840" cy="1298448"/>
          </a:xfrm>
          <a:prstGeom prst="roundRect">
            <a:avLst>
              <a:gd name="adj" fmla="val 8451"/>
            </a:avLst>
          </a:prstGeom>
          <a:solidFill>
            <a:srgbClr val="EAF1F8"/>
          </a:solidFill>
          <a:ln w="12700">
            <a:solidFill>
              <a:srgbClr val="D1D9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57216" y="1609344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用户：用数学公式帮我讲一下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57216" y="1938528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221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系统：P_E(x, σ) = f(x) + (1/(2σ)) * Σ c_i(x)^2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221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改用纯文本公式表达，避免 JSON 转义导致的乱码。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5010912" y="3090672"/>
            <a:ext cx="1298448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84064" y="3255264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1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问题识别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19088" y="322783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67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711696" y="3090672"/>
            <a:ext cx="1444752" cy="713232"/>
          </a:xfrm>
          <a:prstGeom prst="roundRect">
            <a:avLst>
              <a:gd name="adj" fmla="val 15385"/>
            </a:avLst>
          </a:prstGeom>
          <a:solidFill>
            <a:srgbClr val="EAF1F8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84848" y="3255264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1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检索分流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302752" y="322783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67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595360" y="3090672"/>
            <a:ext cx="169164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68512" y="3255264"/>
            <a:ext cx="1545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1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回答骨架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19472" y="4069080"/>
            <a:ext cx="5596128" cy="1554480"/>
          </a:xfrm>
          <a:prstGeom prst="roundRect">
            <a:avLst>
              <a:gd name="adj" fmla="val 7059"/>
            </a:avLst>
          </a:prstGeom>
          <a:solidFill>
            <a:srgbClr val="F6EDE6"/>
          </a:solidFill>
          <a:ln w="12700">
            <a:solidFill>
              <a:srgbClr val="D1D9E3"/>
            </a:solidFill>
            <a:prstDash val="solid"/>
          </a:ln>
          <a:effectLst>
            <a:outerShdw sx="100000" sy="100000" kx="0" ky="0" algn="bl" rotWithShape="0" blurRad="25400" dist="12700" dir="2700000">
              <a:srgbClr val="8EA0B2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138928" y="4251960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6748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对话质量增强结果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175504" y="4690872"/>
            <a:ext cx="73152" cy="73152"/>
          </a:xfrm>
          <a:prstGeom prst="ellipse">
            <a:avLst/>
          </a:prstGeom>
          <a:solidFill>
            <a:srgbClr val="8F6748"/>
          </a:solidFill>
          <a:ln w="12700">
            <a:solidFill>
              <a:srgbClr val="8F67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0" y="4636008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真实回归中：公式问答更稳定，多轮练习题可继续求解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5175504" y="5074920"/>
            <a:ext cx="73152" cy="73152"/>
          </a:xfrm>
          <a:prstGeom prst="ellipse">
            <a:avLst/>
          </a:prstGeom>
          <a:solidFill>
            <a:srgbClr val="8F6748"/>
          </a:solidFill>
          <a:ln w="12700">
            <a:solidFill>
              <a:srgbClr val="8F674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0" y="5020056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“11 / 123” 这类输入会提示澄清，不再输出假答案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402336"/>
            <a:ext cx="10936224" cy="18288"/>
          </a:xfrm>
          <a:prstGeom prst="rect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310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9E2EC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10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63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67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 / 任务与测试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5120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13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核心功能四：学习任务与测试环境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58368" y="645566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课件智能知识点复习助手 / Courseware Review Desk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41248" y="1298448"/>
            <a:ext cx="3108960" cy="4553712"/>
          </a:xfrm>
          <a:prstGeom prst="roundRect">
            <a:avLst>
              <a:gd name="adj" fmla="val 3529"/>
            </a:avLst>
          </a:prstGeom>
          <a:solidFill>
            <a:srgbClr val="EAF1F8"/>
          </a:solidFill>
          <a:ln w="12700">
            <a:solidFill>
              <a:srgbClr val="D1D9E3"/>
            </a:solidFill>
            <a:prstDash val="solid"/>
          </a:ln>
          <a:effectLst>
            <a:outerShdw sx="100000" sy="100000" kx="0" ky="0" algn="bl" rotWithShape="0" blurRad="25400" dist="12700" dir="2700000">
              <a:srgbClr val="8EA0B2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60704" y="1481328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13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Learning Board 四块内容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1920240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186537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摘要：形成章节总览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97280" y="2468880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41401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概念：提炼核心术语与定义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97280" y="3017520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25296" y="296265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练习：给出任务式练习入口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97280" y="3566160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25296" y="351129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复习路径：组织建议的学习顺序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97680" y="1371600"/>
            <a:ext cx="61264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1D9E3"/>
            </a:solidFill>
            <a:prstDash val="solid"/>
          </a:ln>
          <a:effectLst>
            <a:outerShdw sx="100000" sy="100000" kx="0" ky="0" algn="bl" rotWithShape="0" blurRad="25400" dist="12700" dir="2700000">
              <a:srgbClr val="8EA0B2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53712" y="1627632"/>
            <a:ext cx="1005840" cy="292608"/>
          </a:xfrm>
          <a:prstGeom prst="roundRect">
            <a:avLst>
              <a:gd name="adj" fmla="val 37500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53712" y="16642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435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选择题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0" y="1627632"/>
            <a:ext cx="1005840" cy="292608"/>
          </a:xfrm>
          <a:prstGeom prst="roundRect">
            <a:avLst>
              <a:gd name="adj" fmla="val 37500"/>
            </a:avLst>
          </a:prstGeom>
          <a:solidFill>
            <a:srgbClr val="E8F2ED"/>
          </a:solidFill>
          <a:ln w="12700">
            <a:solidFill>
              <a:srgbClr val="E8F2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16642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435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填空题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84848" y="1627632"/>
            <a:ext cx="1005840" cy="292608"/>
          </a:xfrm>
          <a:prstGeom prst="roundRect">
            <a:avLst>
              <a:gd name="adj" fmla="val 37500"/>
            </a:avLst>
          </a:prstGeom>
          <a:solidFill>
            <a:srgbClr val="F6EDE6"/>
          </a:solidFill>
          <a:ln w="12700">
            <a:solidFill>
              <a:srgbClr val="F6ED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84848" y="16642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F67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计算题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973568" y="166420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435E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测试区能力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53712" y="2084832"/>
            <a:ext cx="2724912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1D9E3"/>
            </a:solidFill>
            <a:prstDash val="solid"/>
          </a:ln>
          <a:effectLst>
            <a:outerShdw sx="100000" sy="100000" kx="0" ky="0" algn="bl" rotWithShape="0" blurRad="25400" dist="12700" dir="2700000">
              <a:srgbClr val="8EA0B2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73168" y="22677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13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题目前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09744" y="2706624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2651760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只展示题目，不提前泄露答案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4809744" y="3054096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2999232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支持用户填写与切换题型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7443216" y="2084832"/>
            <a:ext cx="2724912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1D9E3"/>
            </a:solidFill>
            <a:prstDash val="solid"/>
          </a:ln>
          <a:effectLst>
            <a:outerShdw sx="100000" sy="100000" kx="0" ky="0" algn="bl" rotWithShape="0" blurRad="25400" dist="12700" dir="2700000">
              <a:srgbClr val="8EA0B2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662672" y="22677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13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交卷后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699248" y="2706624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27264" y="2651760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显示正确 / 错误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7699248" y="3054096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27264" y="2999232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展示标准答案、解析与参考步骤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5138928" y="3840480"/>
            <a:ext cx="4462272" cy="1325880"/>
          </a:xfrm>
          <a:prstGeom prst="roundRect">
            <a:avLst>
              <a:gd name="adj" fmla="val 8276"/>
            </a:avLst>
          </a:prstGeom>
          <a:solidFill>
            <a:srgbClr val="EAF0F6"/>
          </a:solidFill>
          <a:ln w="12700">
            <a:solidFill>
              <a:srgbClr val="D1D9E3"/>
            </a:solidFill>
            <a:prstDash val="solid"/>
          </a:ln>
          <a:effectLst>
            <a:outerShdw sx="100000" sy="100000" kx="0" ky="0" algn="bl" rotWithShape="0" blurRad="25400" dist="12700" dir="2700000">
              <a:srgbClr val="8EA0B2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358384" y="40233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13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导出结果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394960" y="4462272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22976" y="4407408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统一导出学习笔记、任务完成情况、测试题、用户答案、正确答案与解析</a:t>
            </a:r>
            <a:endParaRPr lang="en-US" sz="9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402336"/>
            <a:ext cx="10936224" cy="18288"/>
          </a:xfrm>
          <a:prstGeom prst="rect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310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9E2EC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11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63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67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/ 技术实现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5120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13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技术架构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58368" y="645566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课件智能知识点复习助手 / Courseware Review Desk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77824" y="1828800"/>
            <a:ext cx="13716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993392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1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React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221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Vite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340864" y="20116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67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51760" y="1828800"/>
            <a:ext cx="1645920" cy="713232"/>
          </a:xfrm>
          <a:prstGeom prst="roundRect">
            <a:avLst>
              <a:gd name="adj" fmla="val 15385"/>
            </a:avLst>
          </a:prstGeom>
          <a:solidFill>
            <a:srgbClr val="EAF1F8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24912" y="199339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1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FastAPI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25696" y="20116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67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1828800"/>
            <a:ext cx="15544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1993392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1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解析层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221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PPTX / PDF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19088" y="20116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67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48272" y="1828800"/>
            <a:ext cx="1737360" cy="713232"/>
          </a:xfrm>
          <a:prstGeom prst="roundRect">
            <a:avLst>
              <a:gd name="adj" fmla="val 15385"/>
            </a:avLst>
          </a:prstGeom>
          <a:solidFill>
            <a:srgbClr val="F6EDE6"/>
          </a:solidFill>
          <a:ln w="12700">
            <a:solidFill>
              <a:srgbClr val="8F67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21424" y="1993392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1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模型层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221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Responses API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613648" y="20116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67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924544" y="1828800"/>
            <a:ext cx="14173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97696" y="1993392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1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SQLite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469880" y="20116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67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771632" y="1828800"/>
            <a:ext cx="640080" cy="713232"/>
          </a:xfrm>
          <a:prstGeom prst="roundRect">
            <a:avLst>
              <a:gd name="adj" fmla="val 17143"/>
            </a:avLst>
          </a:prstGeom>
          <a:solidFill>
            <a:srgbClr val="E8F2ED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844784" y="1993392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1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96112" y="3730752"/>
            <a:ext cx="525780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1D9E3"/>
            </a:solidFill>
            <a:prstDash val="solid"/>
          </a:ln>
          <a:effectLst>
            <a:outerShdw sx="100000" sy="100000" kx="0" ky="0" algn="bl" rotWithShape="0" blurRad="25400" dist="12700" dir="2700000">
              <a:srgbClr val="8EA0B2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115568" y="3913632"/>
            <a:ext cx="4818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13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关键技术组合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152144" y="4352544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80160" y="4297680"/>
            <a:ext cx="4654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前端：React + TypeScript + Vite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1152144" y="4626864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80160" y="4572000"/>
            <a:ext cx="4654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后端：FastAPI + SQLite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1152144" y="4901184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80160" y="4846320"/>
            <a:ext cx="4654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文本提取：python-pptx、PyMuPDF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1152144" y="5175504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80160" y="5120640"/>
            <a:ext cx="4654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模型调用：OpenAI compatible Responses API（默认 gpt-5.4，medium）</a:t>
            </a:r>
            <a:endParaRPr lang="en-US" sz="940" dirty="0"/>
          </a:p>
        </p:txBody>
      </p:sp>
      <p:sp>
        <p:nvSpPr>
          <p:cNvPr id="35" name="Shape 33"/>
          <p:cNvSpPr/>
          <p:nvPr/>
        </p:nvSpPr>
        <p:spPr>
          <a:xfrm>
            <a:off x="6400800" y="3703320"/>
            <a:ext cx="4937760" cy="1847088"/>
          </a:xfrm>
          <a:prstGeom prst="roundRect">
            <a:avLst>
              <a:gd name="adj" fmla="val 5941"/>
            </a:avLst>
          </a:prstGeom>
          <a:solidFill>
            <a:srgbClr val="EAF1F8"/>
          </a:solidFill>
          <a:ln w="12700">
            <a:solidFill>
              <a:srgbClr val="D1D9E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56832" y="39136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435E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主要 API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675120" y="429768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221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/api/documents/upload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6675120" y="4517136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221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/api/documents/{id}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6675120" y="4736592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221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/api/documents/{id}/chat</a:t>
            </a:r>
            <a:endParaRPr lang="en-US" sz="980" dirty="0"/>
          </a:p>
        </p:txBody>
      </p:sp>
      <p:sp>
        <p:nvSpPr>
          <p:cNvPr id="40" name="Text 38"/>
          <p:cNvSpPr/>
          <p:nvPr/>
        </p:nvSpPr>
        <p:spPr>
          <a:xfrm>
            <a:off x="6675120" y="4956048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221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/api/documents/{id}/assessment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6675120" y="5175504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221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/api/documents/{id}/markdown</a:t>
            </a:r>
            <a:endParaRPr lang="en-US" sz="9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402336"/>
            <a:ext cx="10936224" cy="18288"/>
          </a:xfrm>
          <a:prstGeom prst="rect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310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9E2EC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12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63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67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 / 关键问题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5120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13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关键实现难点与解决方案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58368" y="645566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课件智能知识点复习助手 / Courseware Review Desk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41248" y="1298448"/>
            <a:ext cx="10515600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1D9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15544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435E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实现难点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779008" y="15544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435E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对应解决方案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42416" y="1965960"/>
            <a:ext cx="4315968" cy="658368"/>
          </a:xfrm>
          <a:prstGeom prst="rect">
            <a:avLst/>
          </a:prstGeom>
          <a:solidFill>
            <a:srgbClr val="EAF1F8"/>
          </a:solidFill>
          <a:ln w="12700">
            <a:solidFill>
              <a:srgbClr val="D1D9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5296" y="2130552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1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PDF 目录噪声导致章节切分失败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32704" y="1965960"/>
            <a:ext cx="541324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97296" y="2075688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按页做行文本去噪，过滤高频页眉页脚，再识别真实短标题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1042416" y="2898648"/>
            <a:ext cx="4315968" cy="658368"/>
          </a:xfrm>
          <a:prstGeom prst="rect">
            <a:avLst/>
          </a:prstGeom>
          <a:solidFill>
            <a:srgbClr val="EAF0F6"/>
          </a:solidFill>
          <a:ln w="12700">
            <a:solidFill>
              <a:srgbClr val="D1D9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06324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1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Markdown 笔记过短、缺公式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32704" y="2898648"/>
            <a:ext cx="541324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97296" y="3008376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章节新增公式说明与例题步骤，Markdown 重构为“讲解 + 公式 + 例题”结构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1042416" y="3831336"/>
            <a:ext cx="4315968" cy="658368"/>
          </a:xfrm>
          <a:prstGeom prst="rect">
            <a:avLst/>
          </a:prstGeom>
          <a:solidFill>
            <a:srgbClr val="EAF1F8"/>
          </a:solidFill>
          <a:ln w="12700">
            <a:solidFill>
              <a:srgbClr val="D1D9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25296" y="3995928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1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测试题全是概念题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32704" y="3831336"/>
            <a:ext cx="541324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97296" y="3941064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assessment 增加 calculation 类型，并优先从公式与例题组织计算题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1042416" y="4764024"/>
            <a:ext cx="4315968" cy="658368"/>
          </a:xfrm>
          <a:prstGeom prst="rect">
            <a:avLst/>
          </a:prstGeom>
          <a:solidFill>
            <a:srgbClr val="EAF0F6"/>
          </a:solidFill>
          <a:ln w="12700">
            <a:solidFill>
              <a:srgbClr val="D1D9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25296" y="4928616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1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对话容易退化成泛化总结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32704" y="4764024"/>
            <a:ext cx="541324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97296" y="487375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问题类型识别 + 全局/局部检索分流 + 练习题承接逻辑</a:t>
            </a:r>
            <a:endParaRPr lang="en-US" sz="10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402336"/>
            <a:ext cx="10936224" cy="18288"/>
          </a:xfrm>
          <a:prstGeom prst="rect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310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9E2EC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13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63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67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 / 结果验证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5120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13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项目成果与当前效果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58368" y="645566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课件智能知识点复习助手 / Courseware Review Desk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59536" y="1389888"/>
            <a:ext cx="2331720" cy="1325880"/>
          </a:xfrm>
          <a:prstGeom prst="roundRect">
            <a:avLst>
              <a:gd name="adj" fmla="val 8276"/>
            </a:avLst>
          </a:prstGeom>
          <a:solidFill>
            <a:srgbClr val="E8F2ED"/>
          </a:solidFill>
          <a:ln w="12700">
            <a:solidFill>
              <a:srgbClr val="D1D9E3"/>
            </a:solidFill>
            <a:prstDash val="solid"/>
          </a:ln>
          <a:effectLst>
            <a:outerShdw sx="100000" sy="100000" kx="0" ky="0" algn="bl" rotWithShape="0" blurRad="25400" dist="12700" dir="2700000">
              <a:srgbClr val="8EA0B2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42416" y="1554480"/>
            <a:ext cx="438912" cy="27432"/>
          </a:xfrm>
          <a:prstGeom prst="rect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1645920"/>
            <a:ext cx="1929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数学课件章节切分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1060704" y="1828800"/>
            <a:ext cx="1929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435E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11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060704" y="2322576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罚函数法.pdf 可拆成 11 个 section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83280" y="1389888"/>
            <a:ext cx="2331720" cy="1325880"/>
          </a:xfrm>
          <a:prstGeom prst="roundRect">
            <a:avLst>
              <a:gd name="adj" fmla="val 8276"/>
            </a:avLst>
          </a:prstGeom>
          <a:solidFill>
            <a:srgbClr val="EAF1F8"/>
          </a:solidFill>
          <a:ln w="12700">
            <a:solidFill>
              <a:srgbClr val="D1D9E3"/>
            </a:solidFill>
            <a:prstDash val="solid"/>
          </a:ln>
          <a:effectLst>
            <a:outerShdw sx="100000" sy="100000" kx="0" ky="0" algn="bl" rotWithShape="0" blurRad="25400" dist="12700" dir="2700000">
              <a:srgbClr val="8EA0B2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66160" y="1554480"/>
            <a:ext cx="438912" cy="27432"/>
          </a:xfrm>
          <a:prstGeom prst="rect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84448" y="1645920"/>
            <a:ext cx="1929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学习笔记长度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3584448" y="1828800"/>
            <a:ext cx="1929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435E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11025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3584448" y="2322576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Markdown 长度显著提升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07024" y="1389888"/>
            <a:ext cx="2331720" cy="1325880"/>
          </a:xfrm>
          <a:prstGeom prst="roundRect">
            <a:avLst>
              <a:gd name="adj" fmla="val 8276"/>
            </a:avLst>
          </a:prstGeom>
          <a:solidFill>
            <a:srgbClr val="F6EDE6"/>
          </a:solidFill>
          <a:ln w="12700">
            <a:solidFill>
              <a:srgbClr val="D1D9E3"/>
            </a:solidFill>
            <a:prstDash val="solid"/>
          </a:ln>
          <a:effectLst>
            <a:outerShdw sx="100000" sy="100000" kx="0" ky="0" algn="bl" rotWithShape="0" blurRad="25400" dist="12700" dir="2700000">
              <a:srgbClr val="8EA0B2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9904" y="1554480"/>
            <a:ext cx="438912" cy="27432"/>
          </a:xfrm>
          <a:prstGeom prst="rect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08192" y="1645920"/>
            <a:ext cx="1929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计算题数量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6108192" y="1828800"/>
            <a:ext cx="1929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435E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2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108192" y="2322576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assessment 已稳定生成计算题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430768" y="1389888"/>
            <a:ext cx="23317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1D9E3"/>
            </a:solidFill>
            <a:prstDash val="solid"/>
          </a:ln>
          <a:effectLst>
            <a:outerShdw sx="100000" sy="100000" kx="0" ky="0" algn="bl" rotWithShape="0" blurRad="25400" dist="12700" dir="2700000">
              <a:srgbClr val="8EA0B2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13648" y="1554480"/>
            <a:ext cx="438912" cy="27432"/>
          </a:xfrm>
          <a:prstGeom prst="rect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31936" y="1645920"/>
            <a:ext cx="1929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对话回归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8631936" y="1828800"/>
            <a:ext cx="1929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435E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9 轮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8631936" y="2322576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公式问答、练习追问已增强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59536" y="3383280"/>
            <a:ext cx="10113264" cy="2157984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1D9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36393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435E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结果总结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97280" y="4023360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1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笔记质量：从“几百字摘要”提升为“含讲解、公式、例题”的复习笔记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97280" y="4407408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测试效果：从概念题为主，提升为选择题 / 填空题 / 计算题并存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97280" y="4791456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对话体验：从泛化复述，提升为可承接上下文、可解释公式、可继续解题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402336"/>
            <a:ext cx="10936224" cy="18288"/>
          </a:xfrm>
          <a:prstGeom prst="rect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310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9E2EC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14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63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67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 / 收尾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5120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13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总结与展望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58368" y="645566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课件智能知识点复习助手 / Courseware Review Desk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41248" y="1298448"/>
            <a:ext cx="4846320" cy="2907792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1D9E3"/>
            </a:solidFill>
            <a:prstDash val="solid"/>
          </a:ln>
          <a:effectLst>
            <a:outerShdw sx="100000" sy="100000" kx="0" ky="0" algn="bl" rotWithShape="0" blurRad="25400" dist="12700" dir="2700000">
              <a:srgbClr val="8EA0B2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60704" y="1481328"/>
            <a:ext cx="4407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13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项目总结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1920240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1865376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完成了一条从课件上传到笔记、任务、测试、导出的完整学习闭环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97280" y="2450592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395728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针对数学课件补强了章节切分、公式说明、例题整理与计算题生成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97280" y="2980944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25296" y="2926080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前后端联动可运行，适合课程答辩演示与后续继续扩展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298448"/>
            <a:ext cx="4572000" cy="2907792"/>
          </a:xfrm>
          <a:prstGeom prst="roundRect">
            <a:avLst>
              <a:gd name="adj" fmla="val 3774"/>
            </a:avLst>
          </a:prstGeom>
          <a:solidFill>
            <a:srgbClr val="EAF1F8"/>
          </a:solidFill>
          <a:ln w="12700">
            <a:solidFill>
              <a:srgbClr val="D1D9E3"/>
            </a:solidFill>
            <a:prstDash val="solid"/>
          </a:ln>
          <a:effectLst>
            <a:outerShdw sx="100000" sy="100000" kx="0" ky="0" algn="bl" rotWithShape="0" blurRad="25400" dist="12700" dir="2700000">
              <a:srgbClr val="8EA0B2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54496" y="1481328"/>
            <a:ext cx="4133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131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后续展望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91072" y="1920240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9088" y="1865376"/>
            <a:ext cx="3968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OCR：支持扫描版 PDF 与图片型课件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91072" y="2450592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9088" y="2395728"/>
            <a:ext cx="3968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公式规范化：让数学表达更接近标准 LaTeX 排版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91072" y="2980944"/>
            <a:ext cx="73152" cy="73152"/>
          </a:xfrm>
          <a:prstGeom prst="ellipse">
            <a:avLst/>
          </a:prstGeom>
          <a:solidFill>
            <a:srgbClr val="23435E"/>
          </a:solidFill>
          <a:ln w="12700">
            <a:solidFill>
              <a:srgbClr val="2343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19088" y="2926080"/>
            <a:ext cx="3968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评测增强：让数学推导与自动判分更稳定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41248" y="4754880"/>
            <a:ext cx="10570464" cy="1078992"/>
          </a:xfrm>
          <a:prstGeom prst="roundRect">
            <a:avLst>
              <a:gd name="adj" fmla="val 10169"/>
            </a:avLst>
          </a:prstGeom>
          <a:solidFill>
            <a:srgbClr val="F6EDE6"/>
          </a:solidFill>
          <a:ln w="12700">
            <a:solidFill>
              <a:srgbClr val="F6ED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5074920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334A"/>
                </a:solidFill>
                <a:latin typeface="Source Han Serif SC" pitchFamily="34" charset="0"/>
                <a:ea typeface="Source Han Serif SC" pitchFamily="34" charset="-122"/>
                <a:cs typeface="Source Han Serif SC" pitchFamily="34" charset="-120"/>
              </a:rPr>
              <a:t>谢谢观看，欢迎提问。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urce Han Serif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Courseware Review Desk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课件智能知识点复习助手</dc:title>
  <dc:subject>课件智能知识点复习助手答辩讲解</dc:subject>
  <dc:creator>OpenAI Codex</dc:creator>
  <cp:lastModifiedBy>OpenAI Codex</cp:lastModifiedBy>
  <cp:revision>1</cp:revision>
  <dcterms:created xsi:type="dcterms:W3CDTF">2026-03-26T13:27:27Z</dcterms:created>
  <dcterms:modified xsi:type="dcterms:W3CDTF">2026-03-26T13:27:27Z</dcterms:modified>
</cp:coreProperties>
</file>